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5.xml" ContentType="application/vnd.openxmlformats-officedocument.drawingml.chart+xml"/>
  <Override PartName="/ppt/notesSlides/notesSlide8.xml" ContentType="application/vnd.openxmlformats-officedocument.presentationml.notesSlide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  <p:sldId id="264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4"/>
    <p:restoredTop sz="94610"/>
  </p:normalViewPr>
  <p:slideViewPr>
    <p:cSldViewPr snapToGrid="0" snapToObjects="1">
      <p:cViewPr varScale="1">
        <p:scale>
          <a:sx n="116" d="100"/>
          <a:sy n="116" d="100"/>
        </p:scale>
        <p:origin x="496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Approval rate (%)</c:v>
                </c:pt>
              </c:strCache>
            </c:strRef>
          </c:tx>
          <c:spPr>
            <a:solidFill>
              <a:srgbClr val="0F1B3D"/>
            </a:solidFill>
            <a:effectLst/>
          </c:spPr>
          <c:invertIfNegative val="0"/>
          <c:dLbls>
            <c:numFmt formatCode="0.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400" b="1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White</c:v>
                </c:pt>
                <c:pt idx="1">
                  <c:v>Non-White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77.2</c:v>
                </c:pt>
                <c:pt idx="1">
                  <c:v>66.7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C55-6A4D-936C-FE665958F12A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1" i="0" u="none" strike="noStrike">
                <a:solidFill>
                  <a:srgbClr val="1E293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Cleaned records (K)</c:v>
                </c:pt>
              </c:strCache>
            </c:strRef>
          </c:tx>
          <c:spPr>
            <a:solidFill>
              <a:srgbClr val="2A9D8F"/>
            </a:solidFill>
            <a:effectLst/>
          </c:spPr>
          <c:invertIfNegative val="0"/>
          <c:dLbls>
            <c:numFmt formatCode="0&quot;K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400" b="1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2019</c:v>
                </c:pt>
                <c:pt idx="1">
                  <c:v>2020</c:v>
                </c:pt>
                <c:pt idx="2">
                  <c:v>2021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354</c:v>
                </c:pt>
                <c:pt idx="1">
                  <c:v>426</c:v>
                </c:pt>
                <c:pt idx="2">
                  <c:v>479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172-0341-B5E5-6F722580A015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1" i="0" u="none" strike="noStrike">
                <a:solidFill>
                  <a:srgbClr val="1E293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550"/>
          <c:min val="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2019</c:v>
                </c:pt>
              </c:strCache>
            </c:strRef>
          </c:tx>
          <c:spPr>
            <a:solidFill>
              <a:srgbClr val="0F1B3D"/>
            </a:solidFill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SVM</c:v>
                </c:pt>
                <c:pt idx="1">
                  <c:v>LR Baseline</c:v>
                </c:pt>
                <c:pt idx="2">
                  <c:v>LR Proxy Rem.</c:v>
                </c:pt>
                <c:pt idx="3">
                  <c:v>NN+Focal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0.94299999999999995</c:v>
                </c:pt>
                <c:pt idx="1">
                  <c:v>0.91600000000000004</c:v>
                </c:pt>
                <c:pt idx="2">
                  <c:v>0.94</c:v>
                </c:pt>
                <c:pt idx="3">
                  <c:v>0.872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C2C-DA41-B2B7-F468346DFD07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2020</c:v>
                </c:pt>
              </c:strCache>
            </c:strRef>
          </c:tx>
          <c:spPr>
            <a:solidFill>
              <a:srgbClr val="3B5998"/>
            </a:solidFill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SVM</c:v>
                </c:pt>
                <c:pt idx="1">
                  <c:v>LR Baseline</c:v>
                </c:pt>
                <c:pt idx="2">
                  <c:v>LR Proxy Rem.</c:v>
                </c:pt>
                <c:pt idx="3">
                  <c:v>NN+Focal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0.97099999999999997</c:v>
                </c:pt>
                <c:pt idx="1">
                  <c:v>0.94099999999999995</c:v>
                </c:pt>
                <c:pt idx="2">
                  <c:v>0.96499999999999997</c:v>
                </c:pt>
                <c:pt idx="3">
                  <c:v>0.90100000000000002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5C2C-DA41-B2B7-F468346DFD07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2021</c:v>
                </c:pt>
              </c:strCache>
            </c:strRef>
          </c:tx>
          <c:spPr>
            <a:solidFill>
              <a:srgbClr val="F4A261"/>
            </a:solidFill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SVM</c:v>
                </c:pt>
                <c:pt idx="1">
                  <c:v>LR Baseline</c:v>
                </c:pt>
                <c:pt idx="2">
                  <c:v>LR Proxy Rem.</c:v>
                </c:pt>
                <c:pt idx="3">
                  <c:v>NN+Focal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0.99299999999999999</c:v>
                </c:pt>
                <c:pt idx="1">
                  <c:v>0.97899999999999998</c:v>
                </c:pt>
                <c:pt idx="2">
                  <c:v>0.99</c:v>
                </c:pt>
                <c:pt idx="3">
                  <c:v>0.94299999999999995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5C2C-DA41-B2B7-F468346DFD0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1E293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"/>
          <c:min val="0.7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64748B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2019</c:v>
                </c:pt>
              </c:strCache>
            </c:strRef>
          </c:tx>
          <c:spPr>
            <a:solidFill>
              <a:srgbClr val="E63946"/>
            </a:solidFill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SVM</c:v>
                </c:pt>
                <c:pt idx="1">
                  <c:v>LR Baseline</c:v>
                </c:pt>
                <c:pt idx="2">
                  <c:v>LR Proxy Rem.</c:v>
                </c:pt>
                <c:pt idx="3">
                  <c:v>NN+Focal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5125</c:v>
                </c:pt>
                <c:pt idx="1">
                  <c:v>3999</c:v>
                </c:pt>
                <c:pt idx="2">
                  <c:v>4977</c:v>
                </c:pt>
                <c:pt idx="3">
                  <c:v>388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DA7-024C-B5BA-EC588006970B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2020</c:v>
                </c:pt>
              </c:strCache>
            </c:strRef>
          </c:tx>
          <c:spPr>
            <a:solidFill>
              <a:schemeClr val="accent4">
                <a:lumMod val="75000"/>
              </a:schemeClr>
            </a:solidFill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SVM</c:v>
                </c:pt>
                <c:pt idx="1">
                  <c:v>LR Baseline</c:v>
                </c:pt>
                <c:pt idx="2">
                  <c:v>LR Proxy Rem.</c:v>
                </c:pt>
                <c:pt idx="3">
                  <c:v>NN+Focal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6310</c:v>
                </c:pt>
                <c:pt idx="1">
                  <c:v>4581</c:v>
                </c:pt>
                <c:pt idx="2">
                  <c:v>6029</c:v>
                </c:pt>
                <c:pt idx="3">
                  <c:v>-147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9DA7-024C-B5BA-EC588006970B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2021</c:v>
                </c:pt>
              </c:strCache>
            </c:strRef>
          </c:tx>
          <c:spPr>
            <a:solidFill>
              <a:srgbClr val="F4A261"/>
            </a:solidFill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SVM</c:v>
                </c:pt>
                <c:pt idx="1">
                  <c:v>LR Baseline</c:v>
                </c:pt>
                <c:pt idx="2">
                  <c:v>LR Proxy Rem.</c:v>
                </c:pt>
                <c:pt idx="3">
                  <c:v>NN+Focal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5362</c:v>
                </c:pt>
                <c:pt idx="1">
                  <c:v>4332</c:v>
                </c:pt>
                <c:pt idx="2">
                  <c:v>5165</c:v>
                </c:pt>
                <c:pt idx="3">
                  <c:v>-474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9DA7-024C-B5BA-EC588006970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1E293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7000"/>
          <c:min val="-100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64748B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2019</c:v>
                </c:pt>
              </c:strCache>
            </c:strRef>
          </c:tx>
          <c:spPr>
            <a:solidFill>
              <a:srgbClr val="0F1B3D"/>
            </a:solidFill>
            <a:effectLst/>
          </c:spPr>
          <c:invertIfNegative val="0"/>
          <c:dLbls>
            <c:numFmt formatCode="\$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Black</c:v>
                </c:pt>
                <c:pt idx="1">
                  <c:v>Hispanic</c:v>
                </c:pt>
                <c:pt idx="2">
                  <c:v>Asian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4074</c:v>
                </c:pt>
                <c:pt idx="1">
                  <c:v>2903</c:v>
                </c:pt>
                <c:pt idx="2">
                  <c:v>4938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2B7-5844-8460-B0F5A6A5AF8E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2020</c:v>
                </c:pt>
              </c:strCache>
            </c:strRef>
          </c:tx>
          <c:spPr>
            <a:solidFill>
              <a:srgbClr val="3B5998"/>
            </a:solidFill>
            <a:effectLst/>
          </c:spPr>
          <c:invertIfNegative val="0"/>
          <c:dLbls>
            <c:numFmt formatCode="\$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Black</c:v>
                </c:pt>
                <c:pt idx="1">
                  <c:v>Hispanic</c:v>
                </c:pt>
                <c:pt idx="2">
                  <c:v>Asian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3660</c:v>
                </c:pt>
                <c:pt idx="1">
                  <c:v>3691</c:v>
                </c:pt>
                <c:pt idx="2">
                  <c:v>5699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92B7-5844-8460-B0F5A6A5AF8E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2021</c:v>
                </c:pt>
              </c:strCache>
            </c:strRef>
          </c:tx>
          <c:spPr>
            <a:solidFill>
              <a:srgbClr val="F4A261"/>
            </a:solidFill>
            <a:effectLst/>
          </c:spPr>
          <c:invertIfNegative val="0"/>
          <c:dLbls>
            <c:numFmt formatCode="\$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Black</c:v>
                </c:pt>
                <c:pt idx="1">
                  <c:v>Hispanic</c:v>
                </c:pt>
                <c:pt idx="2">
                  <c:v>Asian</c:v>
                </c:pt>
              </c:strCache>
            </c: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5129</c:v>
                </c:pt>
                <c:pt idx="1">
                  <c:v>5111</c:v>
                </c:pt>
                <c:pt idx="2">
                  <c:v>4825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92B7-5844-8460-B0F5A6A5AF8E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1" i="0" u="none" strike="noStrike">
                <a:solidFill>
                  <a:srgbClr val="1E293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700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000">
              <a:solidFill>
                <a:srgbClr val="64748B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loan ($K)</c:v>
                </c:pt>
              </c:strCache>
            </c:strRef>
          </c:tx>
          <c:spPr>
            <a:solidFill>
              <a:srgbClr val="0F1B3D"/>
            </a:solidFill>
            <a:effectLst/>
          </c:spPr>
          <c:invertIfNegative val="0"/>
          <c:dLbls>
            <c:numFmt formatCode="&quot;$&quot;0&quot;K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1" i="0" u="none" strike="noStrike">
                    <a:solidFill>
                      <a:srgbClr val="0F1B3D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White</c:v>
                </c:pt>
                <c:pt idx="1">
                  <c:v>Hispanic</c:v>
                </c:pt>
                <c:pt idx="2">
                  <c:v>Black</c:v>
                </c:pt>
                <c:pt idx="3">
                  <c:v>Asian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136</c:v>
                </c:pt>
                <c:pt idx="1">
                  <c:v>140</c:v>
                </c:pt>
                <c:pt idx="2">
                  <c:v>172</c:v>
                </c:pt>
                <c:pt idx="3">
                  <c:v>226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EA2-574E-B5DC-D0EC491A3DBF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1" i="0" u="none" strike="noStrike">
                <a:solidFill>
                  <a:srgbClr val="1E293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280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1F5F9"/>
    </a:solidFill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$ gap</c:v>
                </c:pt>
              </c:strCache>
            </c:strRef>
          </c:tx>
          <c:spPr>
            <a:solidFill>
              <a:srgbClr val="E63946"/>
            </a:solidFill>
            <a:effectLst/>
          </c:spPr>
          <c:invertIfNegative val="0"/>
          <c:dLbls>
            <c:dLbl>
              <c:idx val="0"/>
              <c:showLegendKey val="0"/>
              <c:showVal val="1"/>
              <c:showCatName val="0"/>
              <c:showSerName val="0"/>
              <c:showPercent val="0"/>
              <c:showBubbleSize val="0"/>
              <c:separator>, </c:separator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2664-3948-8FF6-4F7689A01D8F}"/>
                </c:ext>
              </c:extLst>
            </c:dLbl>
            <c:numFmt formatCode="&quot;+$&quot;#,##0;&quot;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1" i="0" u="none" strike="noStrike">
                    <a:solidFill>
                      <a:srgbClr val="E63946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White</c:v>
                </c:pt>
                <c:pt idx="1">
                  <c:v>Hispanic</c:v>
                </c:pt>
                <c:pt idx="2">
                  <c:v>Black</c:v>
                </c:pt>
                <c:pt idx="3">
                  <c:v>Asian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</c:v>
                </c:pt>
                <c:pt idx="1">
                  <c:v>2903</c:v>
                </c:pt>
                <c:pt idx="2">
                  <c:v>4074</c:v>
                </c:pt>
                <c:pt idx="3">
                  <c:v>4938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664-3948-8FF6-4F7689A01D8F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1" i="0" u="none" strike="noStrike">
                <a:solidFill>
                  <a:srgbClr val="1E293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6000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1F5F9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736671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0F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6400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60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  ·  SEIDENBERG SCHOOL  ·  SPRING 2026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10972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kern="0" spc="300" dirty="0">
                <a:solidFill>
                  <a:srgbClr val="F4A2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FAIRNESS PARADOX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1554480"/>
            <a:ext cx="10972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Fair Credit Risk Assessment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640080" y="242316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 Underserved Populations Using Machine Learning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640080" y="3246120"/>
            <a:ext cx="1097280" cy="36576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40080" y="34290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Dollar-Cost Fairness Framework — extending ECOA beyond approval-rate parity into financial harm.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40080" y="4297680"/>
            <a:ext cx="457200" cy="27432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40080" y="4389120"/>
            <a:ext cx="3474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E639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1.26M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640080" y="51206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CADCFC"/>
                </a:solidFill>
              </a:rPr>
              <a:t>HMDA NY APPLICATIONS  ·  2019–2021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389120" y="4297680"/>
            <a:ext cx="457200" cy="27432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389120" y="4389120"/>
            <a:ext cx="3474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4A2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</a:t>
            </a:r>
            <a:endParaRPr lang="en-US" sz="4000" dirty="0"/>
          </a:p>
        </p:txBody>
      </p:sp>
      <p:sp>
        <p:nvSpPr>
          <p:cNvPr id="14" name="Text 12"/>
          <p:cNvSpPr/>
          <p:nvPr/>
        </p:nvSpPr>
        <p:spPr>
          <a:xfrm>
            <a:off x="4389120" y="51206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CADCFC"/>
                </a:solidFill>
              </a:rPr>
              <a:t>ML MODELS  ·  3 INTERVENTION STRATEGIES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138160" y="4297680"/>
            <a:ext cx="457200" cy="27432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8138160" y="4389120"/>
            <a:ext cx="3474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2A9D8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$6,310</a:t>
            </a:r>
            <a:endParaRPr lang="en-US" sz="4000" dirty="0"/>
          </a:p>
        </p:txBody>
      </p:sp>
      <p:sp>
        <p:nvSpPr>
          <p:cNvPr id="17" name="Text 15"/>
          <p:cNvSpPr/>
          <p:nvPr/>
        </p:nvSpPr>
        <p:spPr>
          <a:xfrm>
            <a:off x="8138160" y="51206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CADCFC"/>
                </a:solidFill>
              </a:rPr>
              <a:t>WORST PER-APPLICANT GAP  ·  SVM, 2020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40080" y="56692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Neelima Verma</a:t>
            </a:r>
            <a:r>
              <a:rPr lang="en-US" sz="15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Saranya Attaluri</a:t>
            </a:r>
            <a:r>
              <a:rPr lang="en-US" sz="15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Nithish Kumar Vishwanath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40080" y="60350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Faculty Advisor:  Prof. Hetali Chavda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40080" y="64008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 Data Science  ·  Pace University  ·  Seidenberg School of Computer Science and Information Systems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600" dirty="0">
                <a:solidFill>
                  <a:srgbClr val="E63946"/>
                </a:solidFill>
              </a:rPr>
              <a:t>01  ·  PROBLEM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F1B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ECOA compliance ≠ financial fairness.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64748B"/>
                </a:solidFill>
              </a:rPr>
              <a:t>A model can pass every approval-rate test while quietly inflicting greater financial harm on minority borrowers.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2468880"/>
            <a:ext cx="5303520" cy="320040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blurRad="1270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48640" y="2468880"/>
            <a:ext cx="5303520" cy="73152"/>
          </a:xfrm>
          <a:prstGeom prst="rect">
            <a:avLst/>
          </a:prstGeom>
          <a:solidFill>
            <a:srgbClr val="0F1B3D"/>
          </a:solidFill>
          <a:ln w="12700">
            <a:solidFill>
              <a:srgbClr val="0F1B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22960" y="26517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F1B3D"/>
                </a:solidFill>
              </a:rPr>
              <a:t>APPLICANT  A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22960" y="2971800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0F1B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$100,000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822960" y="37033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</a:rPr>
              <a:t>loan request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22960" y="425196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1E293B"/>
                </a:solidFill>
              </a:rPr>
              <a:t>Wrongfully denied →  forgoes a $100K mortgage.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22960" y="4709160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</a:rPr>
              <a:t>Under Disparate Impact, this denial weighs the same as any other.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309360" y="2468880"/>
            <a:ext cx="5303520" cy="3200400"/>
          </a:xfrm>
          <a:prstGeom prst="rect">
            <a:avLst/>
          </a:prstGeom>
          <a:solidFill>
            <a:srgbClr val="FFF1F2"/>
          </a:solidFill>
          <a:ln w="12700">
            <a:solidFill>
              <a:srgbClr val="FECDD3"/>
            </a:solidFill>
            <a:prstDash val="solid"/>
          </a:ln>
          <a:effectLst>
            <a:outerShdw blurRad="1270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6309360" y="2468880"/>
            <a:ext cx="5303520" cy="73152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583680" y="26517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E63946"/>
                </a:solidFill>
              </a:rPr>
              <a:t>APPLICANT  B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583680" y="2971800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E639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$300,000</a:t>
            </a:r>
            <a:endParaRPr lang="en-US" sz="4400" dirty="0"/>
          </a:p>
        </p:txBody>
      </p:sp>
      <p:sp>
        <p:nvSpPr>
          <p:cNvPr id="16" name="Text 14"/>
          <p:cNvSpPr/>
          <p:nvPr/>
        </p:nvSpPr>
        <p:spPr>
          <a:xfrm>
            <a:off x="6583680" y="37033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</a:rPr>
              <a:t>loan request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583680" y="425196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i="1" dirty="0">
                <a:solidFill>
                  <a:srgbClr val="1E293B"/>
                </a:solidFill>
              </a:rPr>
              <a:t>Wrongfully denied →  3× the economic damage in NPV terms.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583680" y="4709160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</a:rPr>
              <a:t>Identical in DI. Invisible to every approval-rate metric in regulatory use.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48640" y="5989320"/>
            <a:ext cx="11064240" cy="640080"/>
          </a:xfrm>
          <a:prstGeom prst="rect">
            <a:avLst/>
          </a:prstGeom>
          <a:solidFill>
            <a:srgbClr val="0F1B3D"/>
          </a:solidFill>
          <a:ln w="12700">
            <a:solidFill>
              <a:srgbClr val="0F1B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822960" y="5989320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HMDA 2019 NY:  </a:t>
            </a: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Non-white avg loan </a:t>
            </a:r>
            <a:r>
              <a:rPr lang="en-US" sz="14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$191,632</a:t>
            </a: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·    White avg loan </a:t>
            </a:r>
            <a:r>
              <a:rPr lang="en-US" sz="14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$136,446</a:t>
            </a: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·    </a:t>
            </a: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40% gap that approval-rate fairness ignores.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600" dirty="0">
                <a:solidFill>
                  <a:srgbClr val="E63946"/>
                </a:solidFill>
              </a:rPr>
              <a:t>02  ·  EXPLORATORY DATA ANALYSIS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B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10.4-point approval gap that's stable across three years.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2606040" cy="114300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54864" cy="114300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77240" y="201168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B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1.26M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777240" y="2633472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applications, 2019–2021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337560" y="1874520"/>
            <a:ext cx="2606040" cy="114300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3337560" y="1874520"/>
            <a:ext cx="54864" cy="114300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566160" y="201168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B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354K+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3566160" y="2633472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cleaned records per year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126480" y="1874520"/>
            <a:ext cx="2606040" cy="114300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6126480" y="1874520"/>
            <a:ext cx="54864" cy="114300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355080" y="201168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B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99 → 24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6355080" y="2633472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features after SHAP audit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915400" y="1874520"/>
            <a:ext cx="2606040" cy="114300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8915400" y="1874520"/>
            <a:ext cx="54864" cy="114300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9144000" y="201168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B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9.1%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144000" y="2633472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missingness, median-imputed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48640" y="33832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B3D"/>
                </a:solidFill>
              </a:rPr>
              <a:t>Approval rate by race  ·  2019 HMDA NY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48640" y="36758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</a:rPr>
              <a:t>DI = 0.86  (above ECOA's 0.80 floor — yet a 10.4-pt gap persists)</a:t>
            </a:r>
            <a:endParaRPr lang="en-US" sz="1000" dirty="0"/>
          </a:p>
        </p:txBody>
      </p:sp>
      <p:graphicFrame>
        <p:nvGraphicFramePr>
          <p:cNvPr id="22" name="Chart 0"/>
          <p:cNvGraphicFramePr/>
          <p:nvPr/>
        </p:nvGraphicFramePr>
        <p:xfrm>
          <a:off x="548640" y="4023360"/>
          <a:ext cx="5394960" cy="2286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3" name="Text 20"/>
          <p:cNvSpPr/>
          <p:nvPr/>
        </p:nvSpPr>
        <p:spPr>
          <a:xfrm>
            <a:off x="6355080" y="33832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B3D"/>
                </a:solidFill>
              </a:rPr>
              <a:t>Cleaned records  ·  three-year study scope  (K)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6355080" y="36758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</a:rPr>
              <a:t>Same 6-step pipeline applied per year — 1.26M total applications validated.</a:t>
            </a:r>
            <a:endParaRPr lang="en-US" sz="1000" dirty="0"/>
          </a:p>
        </p:txBody>
      </p:sp>
      <p:graphicFrame>
        <p:nvGraphicFramePr>
          <p:cNvPr id="25" name="Chart 1"/>
          <p:cNvGraphicFramePr/>
          <p:nvPr/>
        </p:nvGraphicFramePr>
        <p:xfrm>
          <a:off x="6355080" y="4023360"/>
          <a:ext cx="5349240" cy="2286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26" name="Shape 22"/>
          <p:cNvSpPr/>
          <p:nvPr/>
        </p:nvSpPr>
        <p:spPr>
          <a:xfrm>
            <a:off x="548640" y="6355080"/>
            <a:ext cx="11064240" cy="365760"/>
          </a:xfrm>
          <a:prstGeom prst="rect">
            <a:avLst/>
          </a:prstGeom>
          <a:solidFill>
            <a:srgbClr val="0F1B3D"/>
          </a:solidFill>
          <a:ln w="12700">
            <a:solidFill>
              <a:srgbClr val="0F1B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3"/>
          <p:cNvSpPr/>
          <p:nvPr/>
        </p:nvSpPr>
        <p:spPr>
          <a:xfrm>
            <a:off x="822960" y="635508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i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Takeaway:  </a:t>
            </a: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2019's 10.4-pt approval gap isn't a snapshot — </a:t>
            </a:r>
            <a:r>
              <a:rPr lang="en-US" sz="12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disparity remains stable across all three years</a:t>
            </a: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(paper §4.9, validated on 1.26M applications).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600" dirty="0">
                <a:solidFill>
                  <a:srgbClr val="E63946"/>
                </a:solidFill>
              </a:rPr>
              <a:t>03  ·  PROPOSED SOLUTION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1B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Dollar-Cost Fairness Framework.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64748B"/>
                </a:solidFill>
              </a:rPr>
              <a:t>Convert model errors into per-applicant dollar harm — then disaggregate by protected group.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194560"/>
            <a:ext cx="5577840" cy="228600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blurRad="1270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48640" y="2194560"/>
            <a:ext cx="73152" cy="228600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22960" y="2377440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E63946"/>
                </a:solidFill>
              </a:rPr>
              <a:t>FALSE  NEGATIVE  —  WRONGFUL  DENIAL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22960" y="2697480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</a:rPr>
              <a:t>A creditworthy applicant is denied. The bank forgoes future interest revenue.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22960" y="3337560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1B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NPV</a:t>
            </a:r>
            <a:r>
              <a:rPr lang="en-US" sz="1800" dirty="0">
                <a:solidFill>
                  <a:srgbClr val="0F1B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Σ [ payment</a:t>
            </a:r>
            <a:r>
              <a:rPr lang="en-US" sz="1100" dirty="0">
                <a:solidFill>
                  <a:srgbClr val="0F1B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</a:t>
            </a:r>
            <a:r>
              <a:rPr lang="en-US" sz="1800" dirty="0">
                <a:solidFill>
                  <a:srgbClr val="0F1B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/ (1 + r)</a:t>
            </a:r>
            <a:r>
              <a:rPr lang="en-US" sz="1100" dirty="0">
                <a:solidFill>
                  <a:srgbClr val="0F1B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</a:t>
            </a:r>
            <a:r>
              <a:rPr lang="en-US" sz="1800" dirty="0">
                <a:solidFill>
                  <a:srgbClr val="0F1B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]  −  loan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22960" y="3886200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</a:rPr>
              <a:t>r = 5% (10-yr Treasury + spread)  ·  amortized over term t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355080" y="2194560"/>
            <a:ext cx="5257800" cy="228600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blurRad="1270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6355080" y="2194560"/>
            <a:ext cx="73152" cy="228600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629400" y="237744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2A9D8F"/>
                </a:solidFill>
              </a:rPr>
              <a:t>FALSE  POSITIVE  —  MISSED  DEFAULT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629400" y="269748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</a:rPr>
              <a:t>A non-creditworthy applicant is approved and defaults. The bank absorbs the balance loss.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629400" y="333756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1B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Cost</a:t>
            </a:r>
            <a:r>
              <a:rPr lang="en-US" sz="1800" dirty="0">
                <a:solidFill>
                  <a:srgbClr val="0F1B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remaining balance × LGD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629400" y="388620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</a:rPr>
              <a:t>LGD = 0.40 (Fed residential standard)  ·  default at loan term ÷ 2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48640" y="4892040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500" dirty="0">
                <a:solidFill>
                  <a:srgbClr val="0F1B3D"/>
                </a:solidFill>
              </a:rPr>
              <a:t>METHODOLOGY  PIPELINE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62356" y="5303520"/>
            <a:ext cx="210312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0F1B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699516" y="5440680"/>
            <a:ext cx="411480" cy="411480"/>
          </a:xfrm>
          <a:prstGeom prst="ellipse">
            <a:avLst/>
          </a:prstGeom>
          <a:solidFill>
            <a:srgbClr val="0F1B3D"/>
          </a:solidFill>
          <a:ln w="12700">
            <a:solidFill>
              <a:srgbClr val="0F1B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99516" y="54406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202436" y="5440680"/>
            <a:ext cx="1325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B3D"/>
                </a:solidFill>
              </a:rPr>
              <a:t>Data + Clean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99516" y="5943600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HMDA NY  ·  6-step pipeline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 rot="5400000">
            <a:off x="2683764" y="5806440"/>
            <a:ext cx="91440" cy="164592"/>
          </a:xfrm>
          <a:prstGeom prst="rtTriangle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2802636" y="5303520"/>
            <a:ext cx="210312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0F1B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2939796" y="5440680"/>
            <a:ext cx="411480" cy="411480"/>
          </a:xfrm>
          <a:prstGeom prst="ellipse">
            <a:avLst/>
          </a:prstGeom>
          <a:solidFill>
            <a:srgbClr val="0F1B3D"/>
          </a:solidFill>
          <a:ln w="12700">
            <a:solidFill>
              <a:srgbClr val="0F1B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2939796" y="54406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442716" y="5440680"/>
            <a:ext cx="1325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B3D"/>
                </a:solidFill>
              </a:rPr>
              <a:t>SHAP Proxy Audit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2939796" y="5943600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5 race proxies removed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 rot="5400000">
            <a:off x="4924044" y="5806440"/>
            <a:ext cx="91440" cy="164592"/>
          </a:xfrm>
          <a:prstGeom prst="rtTriangle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5042916" y="5303520"/>
            <a:ext cx="210312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0F1B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5180076" y="5440680"/>
            <a:ext cx="411480" cy="411480"/>
          </a:xfrm>
          <a:prstGeom prst="ellipse">
            <a:avLst/>
          </a:prstGeom>
          <a:solidFill>
            <a:srgbClr val="0F1B3D"/>
          </a:solidFill>
          <a:ln w="12700">
            <a:solidFill>
              <a:srgbClr val="0F1B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5180076" y="54406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5682996" y="5440680"/>
            <a:ext cx="1325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B3D"/>
                </a:solidFill>
              </a:rPr>
              <a:t>Train 10 Models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180076" y="5943600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LR ·  SVM ·  DT ·  RF ·  NN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 rot="5400000">
            <a:off x="7164324" y="5806440"/>
            <a:ext cx="91440" cy="164592"/>
          </a:xfrm>
          <a:prstGeom prst="rtTriangle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7283196" y="5303520"/>
            <a:ext cx="210312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0F1B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7420356" y="5440680"/>
            <a:ext cx="411480" cy="411480"/>
          </a:xfrm>
          <a:prstGeom prst="ellipse">
            <a:avLst/>
          </a:prstGeom>
          <a:solidFill>
            <a:srgbClr val="0F1B3D"/>
          </a:solidFill>
          <a:ln w="12700">
            <a:solidFill>
              <a:srgbClr val="0F1B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7420356" y="54406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7923276" y="5440680"/>
            <a:ext cx="1325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B3D"/>
                </a:solidFill>
              </a:rPr>
              <a:t>Fairness Eval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7420356" y="5943600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DI, EOD, FPR  +  $-gap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 rot="5400000">
            <a:off x="9404604" y="5806440"/>
            <a:ext cx="91440" cy="164592"/>
          </a:xfrm>
          <a:prstGeom prst="rtTriangle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Shape 40"/>
          <p:cNvSpPr/>
          <p:nvPr/>
        </p:nvSpPr>
        <p:spPr>
          <a:xfrm>
            <a:off x="9523476" y="5303520"/>
            <a:ext cx="210312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0F1B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Shape 41"/>
          <p:cNvSpPr/>
          <p:nvPr/>
        </p:nvSpPr>
        <p:spPr>
          <a:xfrm>
            <a:off x="9660636" y="5440680"/>
            <a:ext cx="411480" cy="411480"/>
          </a:xfrm>
          <a:prstGeom prst="ellipse">
            <a:avLst/>
          </a:prstGeom>
          <a:solidFill>
            <a:srgbClr val="0F1B3D"/>
          </a:solidFill>
          <a:ln w="12700">
            <a:solidFill>
              <a:srgbClr val="0F1B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9660636" y="54406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5</a:t>
            </a:r>
            <a:endParaRPr lang="en-US" sz="1400" dirty="0"/>
          </a:p>
        </p:txBody>
      </p:sp>
      <p:sp>
        <p:nvSpPr>
          <p:cNvPr id="45" name="Text 43"/>
          <p:cNvSpPr/>
          <p:nvPr/>
        </p:nvSpPr>
        <p:spPr>
          <a:xfrm>
            <a:off x="10163556" y="5440680"/>
            <a:ext cx="1325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B3D"/>
                </a:solidFill>
              </a:rPr>
              <a:t>Cross-Year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9660636" y="5943600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2019 → 2020 → 2021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600" dirty="0">
                <a:solidFill>
                  <a:srgbClr val="E63946"/>
                </a:solidFill>
              </a:rPr>
              <a:t>04  ·  RESULTS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B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Fairness Paradox  —  replicates across three years.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4748B"/>
                </a:solidFill>
              </a:rPr>
              <a:t>SVM achieves the highest DI every year — and one of the worst dollar gaps every year.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1965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B3D"/>
                </a:solidFill>
              </a:rPr>
              <a:t>Disparate Impact  (higher = more parity)</a:t>
            </a:r>
            <a:endParaRPr lang="en-US" sz="12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548640" y="2286000"/>
          <a:ext cx="5577840" cy="3291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Text 4"/>
          <p:cNvSpPr/>
          <p:nvPr/>
        </p:nvSpPr>
        <p:spPr>
          <a:xfrm>
            <a:off x="6355080" y="1965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63946"/>
                </a:solidFill>
              </a:rPr>
              <a:t>Per-applicant racial $ gap  (lower = less harm)</a:t>
            </a:r>
            <a:endParaRPr lang="en-US" sz="1200" dirty="0"/>
          </a:p>
        </p:txBody>
      </p:sp>
      <p:graphicFrame>
        <p:nvGraphicFramePr>
          <p:cNvPr id="8" name="Chart 1"/>
          <p:cNvGraphicFramePr/>
          <p:nvPr>
            <p:extLst>
              <p:ext uri="{D42A27DB-BD31-4B8C-83A1-F6EECF244321}">
                <p14:modId xmlns:p14="http://schemas.microsoft.com/office/powerpoint/2010/main" val="1650401354"/>
              </p:ext>
            </p:extLst>
          </p:nvPr>
        </p:nvGraphicFramePr>
        <p:xfrm>
          <a:off x="6355080" y="2286000"/>
          <a:ext cx="5303520" cy="3291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9" name="Shape 5"/>
          <p:cNvSpPr/>
          <p:nvPr/>
        </p:nvSpPr>
        <p:spPr>
          <a:xfrm>
            <a:off x="548640" y="5715000"/>
            <a:ext cx="11064240" cy="960120"/>
          </a:xfrm>
          <a:prstGeom prst="rect">
            <a:avLst/>
          </a:prstGeom>
          <a:solidFill>
            <a:srgbClr val="0F1B3D"/>
          </a:solidFill>
          <a:ln w="12700">
            <a:solidFill>
              <a:srgbClr val="0F1B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6"/>
          <p:cNvSpPr/>
          <p:nvPr/>
        </p:nvSpPr>
        <p:spPr>
          <a:xfrm>
            <a:off x="822960" y="582472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500" dirty="0">
                <a:solidFill>
                  <a:srgbClr val="F4A261"/>
                </a:solidFill>
              </a:rPr>
              <a:t>MECHANISM  ·  LOAN-SIZE  AMPLIFICATION</a:t>
            </a:r>
            <a:endParaRPr lang="en-US" sz="1000" dirty="0"/>
          </a:p>
        </p:txBody>
      </p:sp>
      <p:sp>
        <p:nvSpPr>
          <p:cNvPr id="11" name="Text 7"/>
          <p:cNvSpPr/>
          <p:nvPr/>
        </p:nvSpPr>
        <p:spPr>
          <a:xfrm>
            <a:off x="822960" y="6099048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FFFFFF"/>
                </a:solidFill>
              </a:rPr>
              <a:t>NPV-priced harm scales with principal, not denial rate.  DI, EOD, and FPR-difference are all blind to this effect — which is why approval-rate fairness and dollar-cost fairness can move in opposite directions simultaneously.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600" dirty="0">
                <a:solidFill>
                  <a:srgbClr val="E63946"/>
                </a:solidFill>
              </a:rPr>
              <a:t>04  ·  RESULTS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B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Ten models, four metrics  —  which one ships?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4748B"/>
                </a:solidFill>
              </a:rPr>
              <a:t>2019 HMDA NY deep dive  ·  patterns replicate 2019–2021 (§4.9)  ·  10-fold stratified CV.</a:t>
            </a:r>
            <a:endParaRPr lang="en-US" sz="13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920240"/>
          <a:ext cx="7863840" cy="3456432"/>
        </p:xfrm>
        <a:graphic>
          <a:graphicData uri="http://schemas.openxmlformats.org/drawingml/2006/table">
            <a:tbl>
              <a:tblPr/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EOD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 Gap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Verdict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LR Baseline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0.798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0.916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−0.006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+$3,999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LR Balanced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0.803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0.827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−0.064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−$927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LR Manual Reweighing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0.802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0.898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−0.010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+$1,214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LR Proxy Removal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0.787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0.940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+0.007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+$4,977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E639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SVM Linear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E639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0.791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E639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0.943 ★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E639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+0.011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E639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+$5,125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E639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 worst $-gap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DT Constrained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0.868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−0.006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−$438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A9D8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 Forest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A9D8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A9D8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0.880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A9D8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+0.002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A9D8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+$52 ★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A9D8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recommended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A9D8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NN  +  Focal Loss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A9D8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A9D8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0.872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A9D8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−0.002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A9D8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+$388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A9D8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recommended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8686800" y="1920240"/>
            <a:ext cx="2926080" cy="3456432"/>
          </a:xfrm>
          <a:prstGeom prst="rect">
            <a:avLst/>
          </a:prstGeom>
          <a:solidFill>
            <a:srgbClr val="0F1B3D"/>
          </a:solidFill>
          <a:ln w="12700">
            <a:solidFill>
              <a:srgbClr val="0F1B3D"/>
            </a:solidFill>
            <a:prstDash val="solid"/>
          </a:ln>
          <a:effectLst>
            <a:outerShdw blurRad="1270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4"/>
          <p:cNvSpPr/>
          <p:nvPr/>
        </p:nvSpPr>
        <p:spPr>
          <a:xfrm>
            <a:off x="8915400" y="210312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500" dirty="0">
                <a:solidFill>
                  <a:srgbClr val="F4A261"/>
                </a:solidFill>
              </a:rPr>
              <a:t>WINNER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8915400" y="237744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NN + Focal Loss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8915400" y="2834640"/>
            <a:ext cx="2560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</a:rPr>
              <a:t>Highest AUC (0.993), passes ECOA, relative lowest dollar gap — and stable across all three years.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8915400" y="3749040"/>
            <a:ext cx="2468880" cy="18288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8915400" y="384048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500" dirty="0">
                <a:solidFill>
                  <a:srgbClr val="E63946"/>
                </a:solidFill>
              </a:rPr>
              <a:t>THE  TRAP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8915400" y="4114800"/>
            <a:ext cx="2560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A regulator looking only at DI would approve SVM — the highest-parity model — while permitting the largest dollar harm.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548640" y="6035040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64748B"/>
                </a:solidFill>
              </a:rPr>
              <a:t>★ = best in metric column   ·   ✗ = highest dollar gap   ·   ✓ = recommended for deployment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600" dirty="0">
                <a:solidFill>
                  <a:srgbClr val="E63946"/>
                </a:solidFill>
              </a:rPr>
              <a:t>04  ·  RESULTS  ·  SUBGROUP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B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Lowest denial rate. Highest financial harm.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4748B"/>
                </a:solidFill>
              </a:rPr>
              <a:t>Binary White / Non-White encoding masked a third, sharper disparity entirely.</a:t>
            </a:r>
            <a:endParaRPr lang="en-US" sz="14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965960"/>
          <a:ext cx="6858000" cy="2057400"/>
        </p:xfrm>
        <a:graphic>
          <a:graphicData uri="http://schemas.openxmlformats.org/drawingml/2006/table">
            <a:tbl>
              <a:tblPr/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Group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FN Rate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Avg Loan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 / app gap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White (baseline)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53,056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3.6%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$136K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Hispanic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5,034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3.3%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$140K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+$2,903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Black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5,442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4.0%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$172K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+$4,074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E639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Asian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E639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6,813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E639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3.0% (lowest)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E639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$226K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E639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+$4,938 ★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48640" y="416052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</a:rPr>
              <a:t>2019 HMDA NY  ·  DI for Asian subgroup = 0.962  →  no ECOA flag raised.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7680960" y="1965960"/>
            <a:ext cx="4023360" cy="301752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5"/>
          <p:cNvSpPr/>
          <p:nvPr/>
        </p:nvSpPr>
        <p:spPr>
          <a:xfrm>
            <a:off x="7680960" y="1965960"/>
            <a:ext cx="73152" cy="301752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7909560" y="21031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500" dirty="0">
                <a:solidFill>
                  <a:srgbClr val="E63946"/>
                </a:solidFill>
              </a:rPr>
              <a:t>THE  MECHANISM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7909560" y="237744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1B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Loan-size amplification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7909560" y="2834640"/>
            <a:ext cx="36576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Asian-denied loans average </a:t>
            </a:r>
            <a:r>
              <a:rPr lang="en-US" sz="12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$226K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</a:t>
            </a:r>
            <a:r>
              <a:rPr lang="en-US" sz="12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66% larger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than the White average ($136K). NPV scales with principal, not denial rate, so a smaller fraction of denials inflicts a larger per-applicant gap.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548640" y="4572000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B3D"/>
                </a:solidFill>
              </a:rPr>
              <a:t>Subgroup $ gap across 2019 → 2021  (vs White baseline)</a:t>
            </a:r>
            <a:endParaRPr lang="en-US" sz="1200" dirty="0"/>
          </a:p>
        </p:txBody>
      </p:sp>
      <p:graphicFrame>
        <p:nvGraphicFramePr>
          <p:cNvPr id="13" name="Chart 0"/>
          <p:cNvGraphicFramePr/>
          <p:nvPr/>
        </p:nvGraphicFramePr>
        <p:xfrm>
          <a:off x="548640" y="4892040"/>
          <a:ext cx="11064240" cy="16916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600" dirty="0">
                <a:solidFill>
                  <a:srgbClr val="E63946"/>
                </a:solidFill>
              </a:rPr>
              <a:t>04  ·  RESULTS  ·  SUBGROUP DEEP DIVE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B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Two failures of binary White / Non-White encoding.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4748B"/>
                </a:solidFill>
              </a:rPr>
              <a:t>Shown on 2019 reference year — patterns replicate across 2019–2021 (§4.9). One drives the harm. The other hides it.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5440680" cy="402336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48640" y="1965960"/>
            <a:ext cx="73152" cy="4023360"/>
          </a:xfrm>
          <a:prstGeom prst="rect">
            <a:avLst/>
          </a:prstGeom>
          <a:solidFill>
            <a:srgbClr val="0F1B3D"/>
          </a:solidFill>
          <a:ln w="12700">
            <a:solidFill>
              <a:srgbClr val="0F1B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77240" y="2130552"/>
            <a:ext cx="5074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0F1B3D"/>
                </a:solidFill>
              </a:rPr>
              <a:t>THE  MECHANISM  ·  LOAN-SIZE  AMPLIFICATION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77240" y="2423160"/>
            <a:ext cx="5074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1E293B"/>
                </a:solidFill>
              </a:rPr>
              <a:t>As principal grows, NPV-priced harm grows in step.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77240" y="2743200"/>
            <a:ext cx="5074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64748B"/>
                </a:solidFill>
              </a:rPr>
              <a:t>Avg loan amount  ($K)</a:t>
            </a:r>
            <a:endParaRPr lang="en-US" sz="1000" dirty="0"/>
          </a:p>
        </p:txBody>
      </p:sp>
      <p:graphicFrame>
        <p:nvGraphicFramePr>
          <p:cNvPr id="10" name="Chart 0"/>
          <p:cNvGraphicFramePr/>
          <p:nvPr/>
        </p:nvGraphicFramePr>
        <p:xfrm>
          <a:off x="777240" y="2926080"/>
          <a:ext cx="4983480" cy="12344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1" name="Text 8"/>
          <p:cNvSpPr/>
          <p:nvPr/>
        </p:nvSpPr>
        <p:spPr>
          <a:xfrm>
            <a:off x="777240" y="4251960"/>
            <a:ext cx="5074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64748B"/>
                </a:solidFill>
              </a:rPr>
              <a:t>Per-applicant $ gap  vs White baseline</a:t>
            </a:r>
            <a:endParaRPr lang="en-US" sz="1000" dirty="0"/>
          </a:p>
        </p:txBody>
      </p:sp>
      <p:graphicFrame>
        <p:nvGraphicFramePr>
          <p:cNvPr id="12" name="Chart 1"/>
          <p:cNvGraphicFramePr/>
          <p:nvPr/>
        </p:nvGraphicFramePr>
        <p:xfrm>
          <a:off x="777240" y="4434840"/>
          <a:ext cx="4983480" cy="12344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3" name="Text 9"/>
          <p:cNvSpPr/>
          <p:nvPr/>
        </p:nvSpPr>
        <p:spPr>
          <a:xfrm>
            <a:off x="777240" y="5669280"/>
            <a:ext cx="5074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Asian principal +66% over White </a:t>
            </a:r>
            <a:r>
              <a:rPr lang="en-US" sz="1100" b="1" i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+$4,938 per-applicant harm.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6199632" y="1965960"/>
            <a:ext cx="5440680" cy="4023360"/>
          </a:xfrm>
          <a:prstGeom prst="rect">
            <a:avLst/>
          </a:prstGeom>
          <a:solidFill>
            <a:srgbClr val="FFF1F2"/>
          </a:solidFill>
          <a:ln w="12700">
            <a:solidFill>
              <a:srgbClr val="FECDD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1"/>
          <p:cNvSpPr/>
          <p:nvPr/>
        </p:nvSpPr>
        <p:spPr>
          <a:xfrm>
            <a:off x="6199632" y="1965960"/>
            <a:ext cx="73152" cy="402336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2"/>
          <p:cNvSpPr/>
          <p:nvPr/>
        </p:nvSpPr>
        <p:spPr>
          <a:xfrm>
            <a:off x="6428232" y="2130552"/>
            <a:ext cx="5074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E63946"/>
                </a:solidFill>
              </a:rPr>
              <a:t>THE  BLIND  SPOT  ·  BINARY  MASKING</a:t>
            </a:r>
            <a:endParaRPr lang="en-US" sz="1000" dirty="0"/>
          </a:p>
        </p:txBody>
      </p:sp>
      <p:sp>
        <p:nvSpPr>
          <p:cNvPr id="17" name="Text 13"/>
          <p:cNvSpPr/>
          <p:nvPr/>
        </p:nvSpPr>
        <p:spPr>
          <a:xfrm>
            <a:off x="6428232" y="2423160"/>
            <a:ext cx="5074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1E293B"/>
                </a:solidFill>
              </a:rPr>
              <a:t>Aggregation hides the worst-harmed subgroup.</a:t>
            </a:r>
            <a:endParaRPr lang="en-US" sz="1200" dirty="0"/>
          </a:p>
        </p:txBody>
      </p:sp>
      <p:sp>
        <p:nvSpPr>
          <p:cNvPr id="18" name="Text 14"/>
          <p:cNvSpPr/>
          <p:nvPr/>
        </p:nvSpPr>
        <p:spPr>
          <a:xfrm>
            <a:off x="6428232" y="2788920"/>
            <a:ext cx="5074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64748B"/>
                </a:solidFill>
              </a:rPr>
              <a:t>WHAT  ECOA'S  BINARY  VIEW  SHOWS</a:t>
            </a:r>
            <a:endParaRPr lang="en-US" sz="900" dirty="0"/>
          </a:p>
        </p:txBody>
      </p:sp>
      <p:sp>
        <p:nvSpPr>
          <p:cNvPr id="19" name="Shape 15"/>
          <p:cNvSpPr/>
          <p:nvPr/>
        </p:nvSpPr>
        <p:spPr>
          <a:xfrm>
            <a:off x="6428232" y="3044952"/>
            <a:ext cx="498348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6"/>
          <p:cNvSpPr/>
          <p:nvPr/>
        </p:nvSpPr>
        <p:spPr>
          <a:xfrm>
            <a:off x="6565392" y="313639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Aggregate Non-White</a:t>
            </a:r>
            <a:endParaRPr lang="en-US" sz="1000" dirty="0"/>
          </a:p>
        </p:txBody>
      </p:sp>
      <p:sp>
        <p:nvSpPr>
          <p:cNvPr id="21" name="Text 17"/>
          <p:cNvSpPr/>
          <p:nvPr/>
        </p:nvSpPr>
        <p:spPr>
          <a:xfrm>
            <a:off x="6565392" y="338328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1B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+$3,999</a:t>
            </a:r>
            <a:endParaRPr lang="en-US" sz="2400" dirty="0"/>
          </a:p>
        </p:txBody>
      </p:sp>
      <p:sp>
        <p:nvSpPr>
          <p:cNvPr id="22" name="Text 18"/>
          <p:cNvSpPr/>
          <p:nvPr/>
        </p:nvSpPr>
        <p:spPr>
          <a:xfrm>
            <a:off x="6565392" y="3794760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</a:rPr>
              <a:t>avg $ gap  (LR Baseline)</a:t>
            </a:r>
            <a:endParaRPr lang="en-US" sz="900" dirty="0"/>
          </a:p>
        </p:txBody>
      </p:sp>
      <p:sp>
        <p:nvSpPr>
          <p:cNvPr id="23" name="Shape 19"/>
          <p:cNvSpPr/>
          <p:nvPr/>
        </p:nvSpPr>
        <p:spPr>
          <a:xfrm>
            <a:off x="9400032" y="3246120"/>
            <a:ext cx="1828800" cy="54864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0"/>
          <p:cNvSpPr/>
          <p:nvPr/>
        </p:nvSpPr>
        <p:spPr>
          <a:xfrm>
            <a:off x="9400032" y="324612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DI = 0.86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✓ ECOA compliant</a:t>
            </a:r>
            <a:endParaRPr lang="en-US" sz="1000" dirty="0"/>
          </a:p>
        </p:txBody>
      </p:sp>
      <p:sp>
        <p:nvSpPr>
          <p:cNvPr id="25" name="Text 21"/>
          <p:cNvSpPr/>
          <p:nvPr/>
        </p:nvSpPr>
        <p:spPr>
          <a:xfrm>
            <a:off x="6428232" y="4160520"/>
            <a:ext cx="5074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64748B"/>
                </a:solidFill>
              </a:rPr>
              <a:t>WHAT  DISAGGREGATION  REVEALS</a:t>
            </a:r>
            <a:endParaRPr lang="en-US" sz="900" dirty="0"/>
          </a:p>
        </p:txBody>
      </p:sp>
      <p:sp>
        <p:nvSpPr>
          <p:cNvPr id="26" name="Shape 22"/>
          <p:cNvSpPr/>
          <p:nvPr/>
        </p:nvSpPr>
        <p:spPr>
          <a:xfrm>
            <a:off x="6428232" y="4434840"/>
            <a:ext cx="1627632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3"/>
          <p:cNvSpPr/>
          <p:nvPr/>
        </p:nvSpPr>
        <p:spPr>
          <a:xfrm>
            <a:off x="6519672" y="4544568"/>
            <a:ext cx="1444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1B3D"/>
                </a:solidFill>
              </a:rPr>
              <a:t>Hispanic</a:t>
            </a:r>
            <a:endParaRPr lang="en-US" sz="1100" dirty="0"/>
          </a:p>
        </p:txBody>
      </p:sp>
      <p:sp>
        <p:nvSpPr>
          <p:cNvPr id="28" name="Text 24"/>
          <p:cNvSpPr/>
          <p:nvPr/>
        </p:nvSpPr>
        <p:spPr>
          <a:xfrm>
            <a:off x="6519672" y="4818888"/>
            <a:ext cx="14447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F1B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+$2,903</a:t>
            </a:r>
            <a:endParaRPr lang="en-US" sz="2000" dirty="0"/>
          </a:p>
        </p:txBody>
      </p:sp>
      <p:sp>
        <p:nvSpPr>
          <p:cNvPr id="29" name="Shape 25"/>
          <p:cNvSpPr/>
          <p:nvPr/>
        </p:nvSpPr>
        <p:spPr>
          <a:xfrm>
            <a:off x="8101584" y="4434840"/>
            <a:ext cx="1627632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6"/>
          <p:cNvSpPr/>
          <p:nvPr/>
        </p:nvSpPr>
        <p:spPr>
          <a:xfrm>
            <a:off x="8193024" y="4544568"/>
            <a:ext cx="1444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1B3D"/>
                </a:solidFill>
              </a:rPr>
              <a:t>Black</a:t>
            </a:r>
            <a:endParaRPr lang="en-US" sz="1100" dirty="0"/>
          </a:p>
        </p:txBody>
      </p:sp>
      <p:sp>
        <p:nvSpPr>
          <p:cNvPr id="31" name="Text 27"/>
          <p:cNvSpPr/>
          <p:nvPr/>
        </p:nvSpPr>
        <p:spPr>
          <a:xfrm>
            <a:off x="8193024" y="4818888"/>
            <a:ext cx="14447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F1B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+$4,074</a:t>
            </a:r>
            <a:endParaRPr lang="en-US" sz="2000" dirty="0"/>
          </a:p>
        </p:txBody>
      </p:sp>
      <p:sp>
        <p:nvSpPr>
          <p:cNvPr id="32" name="Shape 28"/>
          <p:cNvSpPr/>
          <p:nvPr/>
        </p:nvSpPr>
        <p:spPr>
          <a:xfrm>
            <a:off x="9774936" y="4434840"/>
            <a:ext cx="1627632" cy="1051560"/>
          </a:xfrm>
          <a:prstGeom prst="rect">
            <a:avLst/>
          </a:prstGeom>
          <a:solidFill>
            <a:srgbClr val="FFE4E6"/>
          </a:solidFill>
          <a:ln w="2540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29"/>
          <p:cNvSpPr/>
          <p:nvPr/>
        </p:nvSpPr>
        <p:spPr>
          <a:xfrm>
            <a:off x="9866376" y="4544568"/>
            <a:ext cx="1444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63946"/>
                </a:solidFill>
              </a:rPr>
              <a:t>Asian  ★</a:t>
            </a:r>
            <a:endParaRPr lang="en-US" sz="1100" dirty="0"/>
          </a:p>
        </p:txBody>
      </p:sp>
      <p:sp>
        <p:nvSpPr>
          <p:cNvPr id="34" name="Text 30"/>
          <p:cNvSpPr/>
          <p:nvPr/>
        </p:nvSpPr>
        <p:spPr>
          <a:xfrm>
            <a:off x="9866376" y="4818888"/>
            <a:ext cx="14447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E639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+$4,938</a:t>
            </a:r>
            <a:endParaRPr lang="en-US" sz="2000" dirty="0"/>
          </a:p>
        </p:txBody>
      </p:sp>
      <p:sp>
        <p:nvSpPr>
          <p:cNvPr id="35" name="Text 31"/>
          <p:cNvSpPr/>
          <p:nvPr/>
        </p:nvSpPr>
        <p:spPr>
          <a:xfrm>
            <a:off x="6428232" y="5669280"/>
            <a:ext cx="5074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Asian — lowest FN rate (3.0%) — bears the highest harm. </a:t>
            </a:r>
            <a:r>
              <a:rPr lang="en-US" sz="1100" b="1" i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aggregate hides it.</a:t>
            </a:r>
            <a:endParaRPr lang="en-US" sz="1100" dirty="0"/>
          </a:p>
        </p:txBody>
      </p:sp>
      <p:sp>
        <p:nvSpPr>
          <p:cNvPr id="36" name="Shape 32"/>
          <p:cNvSpPr/>
          <p:nvPr/>
        </p:nvSpPr>
        <p:spPr>
          <a:xfrm>
            <a:off x="548640" y="6172200"/>
            <a:ext cx="11091672" cy="502920"/>
          </a:xfrm>
          <a:prstGeom prst="rect">
            <a:avLst/>
          </a:prstGeom>
          <a:solidFill>
            <a:srgbClr val="0F1B3D"/>
          </a:solidFill>
          <a:ln w="12700">
            <a:solidFill>
              <a:srgbClr val="0F1B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3"/>
          <p:cNvSpPr/>
          <p:nvPr/>
        </p:nvSpPr>
        <p:spPr>
          <a:xfrm>
            <a:off x="822960" y="6172200"/>
            <a:ext cx="10561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i="1" kern="0" spc="30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 IMPLICATION:  </a:t>
            </a: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subgroup-aware metrics matter. Binary encoding both masks the worst-harmed group </a:t>
            </a:r>
            <a:r>
              <a:rPr lang="en-US" sz="1200" i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</a:t>
            </a: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misses the principal-driven mechanism that produced the harm.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4" name="Picture 3" descr="A screenshot of a graph&#10;&#10;AI-generated content may be incorrect.">
            <a:extLst>
              <a:ext uri="{FF2B5EF4-FFF2-40B4-BE49-F238E27FC236}">
                <a16:creationId xmlns:a16="http://schemas.microsoft.com/office/drawing/2014/main" id="{B342E6FA-DD1E-B769-8F5C-43686BDDC46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2204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p:sp>
        <p:nvSpPr>
          <p:cNvPr id="3" name="AutoShape 4">
            <a:extLst>
              <a:ext uri="{FF2B5EF4-FFF2-40B4-BE49-F238E27FC236}">
                <a16:creationId xmlns:a16="http://schemas.microsoft.com/office/drawing/2014/main" id="{FC82FE88-7D4C-D4CD-4E67-5F760B8DB91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072824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70F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600" dirty="0">
                <a:solidFill>
                  <a:srgbClr val="E63946"/>
                </a:solidFill>
              </a:rPr>
              <a:t>05  ·  CONCLUSION &amp; FUTURE WORK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findings. One recommendation.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40080" y="1691640"/>
            <a:ext cx="3657600" cy="2743200"/>
          </a:xfrm>
          <a:prstGeom prst="rect">
            <a:avLst/>
          </a:prstGeom>
          <a:solidFill>
            <a:srgbClr val="0F1B3D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914400" y="187452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E639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914400" y="246888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Decoupling is structural.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14400" y="3291840"/>
            <a:ext cx="3200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</a:rPr>
              <a:t>Across 30 model-year evaluations, DI and dollar-gap show no significant correlation. SVM topped DI every year and produced one of the worst dollar gaps every year — not noise.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480560" y="1691640"/>
            <a:ext cx="3657600" cy="2743200"/>
          </a:xfrm>
          <a:prstGeom prst="rect">
            <a:avLst/>
          </a:prstGeom>
          <a:solidFill>
            <a:srgbClr val="0F1B3D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754880" y="187452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E639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4754880" y="246888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Loan-size amplification is the mechanism.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754880" y="3291840"/>
            <a:ext cx="3200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</a:rPr>
              <a:t>NPV-priced harm scales with principal, not denial rate. Asian applicants — lowest FN rate, highest avg loan — bear the largest per-applicant gap. Every approval-rate metric misses this.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321040" y="1691640"/>
            <a:ext cx="3657600" cy="2743200"/>
          </a:xfrm>
          <a:prstGeom prst="rect">
            <a:avLst/>
          </a:prstGeom>
          <a:solidFill>
            <a:srgbClr val="0F1B3D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8595360" y="187452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E639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8595360" y="246888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Some models clear both bars.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595360" y="3291840"/>
            <a:ext cx="3200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</a:rPr>
              <a:t>NN + Focal Loss and Random Forest hold ECOA compliance and a relatively lowest dollar gap across 2019–2021. The conventional accuracy / fairness trade-off may not apply to dollar-cost fairness.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40080" y="4663440"/>
            <a:ext cx="11338560" cy="86868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868680" y="47548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500" dirty="0">
                <a:solidFill>
                  <a:srgbClr val="0F1B3D"/>
                </a:solidFill>
              </a:rPr>
              <a:t>RECOMMENDATION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868680" y="5010912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i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Adopt dollar-cost metrics as a complementary regulatory standard. ECOA's DI ≥ 0.80 is necessary — but not sufficient — for equitable lending.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40080" y="57607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500" dirty="0">
                <a:solidFill>
                  <a:srgbClr val="E63946"/>
                </a:solidFill>
              </a:rPr>
              <a:t>FUTURE  WORK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40080" y="6080760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E63946"/>
                </a:solidFill>
              </a:rPr>
              <a:t>·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822960" y="612648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</a:rPr>
              <a:t>Cross-state replication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474720" y="6080760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E63946"/>
                </a:solidFill>
              </a:rPr>
              <a:t>·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3657600" y="612648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</a:rPr>
              <a:t>Governance &amp; Lifecycle monitoring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309360" y="6080760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E63946"/>
                </a:solidFill>
              </a:rPr>
              <a:t>·</a:t>
            </a:r>
            <a:endParaRPr lang="en-US" sz="2400" dirty="0"/>
          </a:p>
        </p:txBody>
      </p:sp>
      <p:sp>
        <p:nvSpPr>
          <p:cNvPr id="26" name="Text 24"/>
          <p:cNvSpPr/>
          <p:nvPr/>
        </p:nvSpPr>
        <p:spPr>
          <a:xfrm>
            <a:off x="6492240" y="612648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</a:rPr>
              <a:t>Dynamic LGD via LTV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9144000" y="6080760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E63946"/>
                </a:solidFill>
              </a:rPr>
              <a:t>·</a:t>
            </a:r>
            <a:endParaRPr lang="en-US" sz="2400" dirty="0"/>
          </a:p>
        </p:txBody>
      </p:sp>
      <p:sp>
        <p:nvSpPr>
          <p:cNvPr id="28" name="Text 26"/>
          <p:cNvSpPr/>
          <p:nvPr/>
        </p:nvSpPr>
        <p:spPr>
          <a:xfrm>
            <a:off x="9326880" y="612648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</a:rPr>
              <a:t>Causal inference frameworks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68</TotalTime>
  <Words>1240</Words>
  <Application>Microsoft Macintosh PowerPoint</Application>
  <PresentationFormat>Widescreen</PresentationFormat>
  <Paragraphs>230</Paragraphs>
  <Slides>10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Consolas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Fair Credit Risk Assessment — Dollar-Cost Fairness Framework</dc:title>
  <dc:subject>PptxGenJS Presentation</dc:subject>
  <dc:creator>Neelima Verma, Saranya Attaluri, Nithish Kumar Vishwanath</dc:creator>
  <cp:lastModifiedBy>Attaluri, Ms. Saranya</cp:lastModifiedBy>
  <cp:revision>6</cp:revision>
  <dcterms:created xsi:type="dcterms:W3CDTF">2026-05-14T00:09:50Z</dcterms:created>
  <dcterms:modified xsi:type="dcterms:W3CDTF">2026-05-14T21:40:30Z</dcterms:modified>
</cp:coreProperties>
</file>